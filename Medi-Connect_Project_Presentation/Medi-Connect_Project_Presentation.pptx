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85BD9E-4EF1-41F0-8C39-4FAC6C36B1FF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334B27-F5EF-4CF5-8B67-41F75A7FDD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25765D-D9B6-41F6-95D3-A46B466979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D4D112-F300-4C89-9FB3-3D225E62BE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618677-226E-4E9E-806C-46B48EC0DE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564196-9DF3-460D-877F-8C06FBA046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E428B9-FE11-409D-B437-8322093CC2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A829E0-6360-4E03-8EA6-DB53D10192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0F4374-077E-401A-A947-7792291154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72C8FD-78DC-4F60-B855-25BA057C91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4CE94A-6214-4861-BFF0-3A54F8BDDD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6F4184-D33F-40C1-B078-0EF506931E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6217920" y="0"/>
            <a:ext cx="59734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22"/>
          <p:cNvSpPr/>
          <p:nvPr/>
        </p:nvSpPr>
        <p:spPr>
          <a:xfrm>
            <a:off x="6217920" y="0"/>
            <a:ext cx="2011320" cy="6857640"/>
          </a:xfrm>
          <a:prstGeom prst="rect">
            <a:avLst/>
          </a:prstGeom>
          <a:solidFill>
            <a:srgbClr val="081a33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9"/>
          <p:cNvSpPr/>
          <p:nvPr/>
        </p:nvSpPr>
        <p:spPr>
          <a:xfrm>
            <a:off x="0" y="0"/>
            <a:ext cx="6309000" cy="6857640"/>
          </a:xfrm>
          <a:prstGeom prst="rect">
            <a:avLst/>
          </a:prstGeom>
          <a:solidFill>
            <a:srgbClr val="081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2"/>
          <p:cNvSpPr/>
          <p:nvPr/>
        </p:nvSpPr>
        <p:spPr>
          <a:xfrm>
            <a:off x="548640" y="1097280"/>
            <a:ext cx="639720" cy="72720"/>
          </a:xfrm>
          <a:prstGeom prst="rect">
            <a:avLst/>
          </a:prstGeom>
          <a:solidFill>
            <a:srgbClr val="13b5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9"/>
          <p:cNvSpPr/>
          <p:nvPr/>
        </p:nvSpPr>
        <p:spPr>
          <a:xfrm>
            <a:off x="548640" y="5486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601" strike="noStrike">
                <a:solidFill>
                  <a:srgbClr val="13b5a6"/>
                </a:solidFill>
                <a:effectLst/>
                <a:uFillTx/>
                <a:latin typeface="Calibri"/>
                <a:ea typeface="Calibri"/>
              </a:rPr>
              <a:t>MAJOR PROJECT  •  MCA  •  2025–2026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0"/>
          <p:cNvSpPr/>
          <p:nvPr/>
        </p:nvSpPr>
        <p:spPr>
          <a:xfrm>
            <a:off x="548640" y="1371600"/>
            <a:ext cx="56689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Doctor–Patient</a:t>
            </a:r>
            <a:endParaRPr lang="en-IN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Portal</a:t>
            </a:r>
            <a:endParaRPr lang="en-IN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1"/>
          <p:cNvSpPr/>
          <p:nvPr/>
        </p:nvSpPr>
        <p:spPr>
          <a:xfrm>
            <a:off x="548640" y="32461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pc="799" strike="noStrike">
                <a:solidFill>
                  <a:srgbClr val="13b5a6"/>
                </a:solidFill>
                <a:effectLst/>
                <a:uFillTx/>
                <a:latin typeface="Calibri"/>
                <a:ea typeface="Calibri"/>
              </a:rPr>
              <a:t>MEDI-CONNECT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2"/>
          <p:cNvSpPr/>
          <p:nvPr/>
        </p:nvSpPr>
        <p:spPr>
          <a:xfrm>
            <a:off x="548640" y="3794760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8f4f8"/>
                </a:solidFill>
                <a:effectLst/>
                <a:uFillTx/>
                <a:latin typeface="Calibri"/>
                <a:ea typeface="Calibri"/>
              </a:rPr>
              <a:t>A secure, containerized web platform digitizing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8f4f8"/>
                </a:solidFill>
                <a:effectLst/>
                <a:uFillTx/>
                <a:latin typeface="Calibri"/>
                <a:ea typeface="Calibri"/>
              </a:rPr>
              <a:t>end-to-end clinic operations through a custom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8f4f8"/>
                </a:solidFill>
                <a:effectLst/>
                <a:uFillTx/>
                <a:latin typeface="Calibri"/>
                <a:ea typeface="Calibri"/>
              </a:rPr>
              <a:t>Java MVC architecture and DevOps deployment.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34"/>
          <p:cNvSpPr/>
          <p:nvPr/>
        </p:nvSpPr>
        <p:spPr>
          <a:xfrm>
            <a:off x="548640" y="5074920"/>
            <a:ext cx="5303160" cy="18000"/>
          </a:xfrm>
          <a:prstGeom prst="rect">
            <a:avLst/>
          </a:prstGeom>
          <a:solidFill>
            <a:srgbClr val="13b5a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3"/>
          <p:cNvSpPr/>
          <p:nvPr/>
        </p:nvSpPr>
        <p:spPr>
          <a:xfrm>
            <a:off x="548640" y="5257800"/>
            <a:ext cx="5668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000" b="1" u="none" spc="300" strike="noStrike">
                <a:solidFill>
                  <a:srgbClr val="13b5a6"/>
                </a:solidFill>
                <a:effectLst/>
                <a:uFillTx/>
                <a:latin typeface="Calibri"/>
                <a:ea typeface="Calibri"/>
              </a:rPr>
              <a:t>Submitted by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Shreyash Sandip Vairagade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8f4f8"/>
                </a:solidFill>
                <a:effectLst/>
                <a:uFillTx/>
                <a:latin typeface="Calibri"/>
                <a:ea typeface="Calibri"/>
              </a:rPr>
              <a:t>UID: O24MCA111346   |   Fourth Semester   |   Subject Code: 23ONMCR-753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4"/>
          <p:cNvSpPr/>
          <p:nvPr/>
        </p:nvSpPr>
        <p:spPr>
          <a:xfrm>
            <a:off x="548640" y="6400800"/>
            <a:ext cx="566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e8f4f8"/>
                </a:solidFill>
                <a:effectLst/>
                <a:uFillTx/>
                <a:latin typeface="Calibri"/>
                <a:ea typeface="Calibri"/>
              </a:rPr>
              <a:t>Centre for Distance &amp; Online Education  •  Chandigarh University, Mohali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3200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01  /  OVERVIEW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548640" y="5943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Project Introduction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548640" y="1280160"/>
            <a:ext cx="10972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548640" y="1554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Medi-Connect is a secure, role-based web application that digitizes end-to-end clinic operations — bridging the communication gap between patients, doctors, and administrators.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548640" y="2743200"/>
            <a:ext cx="5440320" cy="150840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12700">
            <a:solidFill>
              <a:srgbClr val="e8f4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548640" y="2743200"/>
            <a:ext cx="109440" cy="1508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868680" y="29077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Domain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868680" y="331020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Digital Healthcare &amp; Clinic Workflow Automation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6172200" y="2743200"/>
            <a:ext cx="5440320" cy="150840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12700">
            <a:solidFill>
              <a:srgbClr val="e8f4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172200" y="2743200"/>
            <a:ext cx="109440" cy="1508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492240" y="29077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Architecture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6492240" y="331020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Java MVC using JSP &amp; Servlets with strict layer separation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548640" y="4434840"/>
            <a:ext cx="5440320" cy="150840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12700">
            <a:solidFill>
              <a:srgbClr val="e8f4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548640" y="4434840"/>
            <a:ext cx="109440" cy="1508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868680" y="45993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Deployment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868680" y="500184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Fully containerized with Docker for portable cloud delivery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6172200" y="4434840"/>
            <a:ext cx="5440320" cy="150840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 w="12700">
            <a:solidFill>
              <a:srgbClr val="e8f4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6172200" y="4434840"/>
            <a:ext cx="109440" cy="1508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6492240" y="45993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Users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6492240" y="500184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Three role-based dashboards — Admin, Doctor and Patient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1"/>
          <p:cNvSpPr/>
          <p:nvPr/>
        </p:nvSpPr>
        <p:spPr>
          <a:xfrm>
            <a:off x="0" y="6675120"/>
            <a:ext cx="12188520" cy="1825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365760" y="64465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Medi-Connect  •  Doctor-Patient Portal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11247120" y="64465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2 / 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548640" y="3200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02  /  THE CHALLENGE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548640" y="5943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Problem Statement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548640" y="1280160"/>
            <a:ext cx="10972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548640" y="155448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Traditional clinic management still relies on phone calls, paper registers and isolated desktop tools — creating friction for patients and overhead for medical staff.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548640" y="246888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777240" y="2697480"/>
            <a:ext cx="456840" cy="45684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777240" y="2670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1371600" y="26701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Scheduling Conflicts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777240" y="3273480"/>
            <a:ext cx="3200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Manual booking causes double-bookings, missed slots and long wait times.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4297680" y="246888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1"/>
          <p:cNvSpPr/>
          <p:nvPr/>
        </p:nvSpPr>
        <p:spPr>
          <a:xfrm>
            <a:off x="4526280" y="2697480"/>
            <a:ext cx="456840" cy="45684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4526280" y="2670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5120640" y="26701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Fragmented Records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4526280" y="3273480"/>
            <a:ext cx="3200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Patient data sits in silos with no unified, searchable history.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5"/>
          <p:cNvSpPr/>
          <p:nvPr/>
        </p:nvSpPr>
        <p:spPr>
          <a:xfrm>
            <a:off x="8046720" y="246888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6"/>
          <p:cNvSpPr/>
          <p:nvPr/>
        </p:nvSpPr>
        <p:spPr>
          <a:xfrm>
            <a:off x="8275320" y="2697480"/>
            <a:ext cx="456840" cy="45684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8275320" y="2670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8"/>
          <p:cNvSpPr/>
          <p:nvPr/>
        </p:nvSpPr>
        <p:spPr>
          <a:xfrm>
            <a:off x="8869680" y="26701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Weak Access Control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9"/>
          <p:cNvSpPr/>
          <p:nvPr/>
        </p:nvSpPr>
        <p:spPr>
          <a:xfrm>
            <a:off x="8275320" y="3273480"/>
            <a:ext cx="3200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Sensitive records are exposed due to absent role-based permissions.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0"/>
          <p:cNvSpPr/>
          <p:nvPr/>
        </p:nvSpPr>
        <p:spPr>
          <a:xfrm>
            <a:off x="548640" y="434340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1"/>
          <p:cNvSpPr/>
          <p:nvPr/>
        </p:nvSpPr>
        <p:spPr>
          <a:xfrm>
            <a:off x="777240" y="4572000"/>
            <a:ext cx="456840" cy="45684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2"/>
          <p:cNvSpPr/>
          <p:nvPr/>
        </p:nvSpPr>
        <p:spPr>
          <a:xfrm>
            <a:off x="777240" y="4544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3"/>
          <p:cNvSpPr/>
          <p:nvPr/>
        </p:nvSpPr>
        <p:spPr>
          <a:xfrm>
            <a:off x="1371600" y="45446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Poor Patient Experience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4"/>
          <p:cNvSpPr/>
          <p:nvPr/>
        </p:nvSpPr>
        <p:spPr>
          <a:xfrm>
            <a:off x="777240" y="5148000"/>
            <a:ext cx="3200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No easy way to discover specialists or track appointment status.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5"/>
          <p:cNvSpPr/>
          <p:nvPr/>
        </p:nvSpPr>
        <p:spPr>
          <a:xfrm>
            <a:off x="4297680" y="434340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6"/>
          <p:cNvSpPr/>
          <p:nvPr/>
        </p:nvSpPr>
        <p:spPr>
          <a:xfrm>
            <a:off x="4526280" y="4572000"/>
            <a:ext cx="456840" cy="45684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7"/>
          <p:cNvSpPr/>
          <p:nvPr/>
        </p:nvSpPr>
        <p:spPr>
          <a:xfrm>
            <a:off x="4526280" y="4544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8"/>
          <p:cNvSpPr/>
          <p:nvPr/>
        </p:nvSpPr>
        <p:spPr>
          <a:xfrm>
            <a:off x="5120640" y="45446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Limited Scalability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9"/>
          <p:cNvSpPr/>
          <p:nvPr/>
        </p:nvSpPr>
        <p:spPr>
          <a:xfrm>
            <a:off x="4526280" y="5148000"/>
            <a:ext cx="3200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Hardcoded configurations make legacy systems hard to deploy or scale.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0"/>
          <p:cNvSpPr/>
          <p:nvPr/>
        </p:nvSpPr>
        <p:spPr>
          <a:xfrm>
            <a:off x="8046720" y="4343400"/>
            <a:ext cx="3565800" cy="1691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1"/>
          <p:cNvSpPr/>
          <p:nvPr/>
        </p:nvSpPr>
        <p:spPr>
          <a:xfrm>
            <a:off x="8275320" y="4572000"/>
            <a:ext cx="456840" cy="45684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2"/>
          <p:cNvSpPr/>
          <p:nvPr/>
        </p:nvSpPr>
        <p:spPr>
          <a:xfrm>
            <a:off x="8275320" y="4544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3"/>
          <p:cNvSpPr/>
          <p:nvPr/>
        </p:nvSpPr>
        <p:spPr>
          <a:xfrm>
            <a:off x="8869680" y="45446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Deployment Friction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4"/>
          <p:cNvSpPr/>
          <p:nvPr/>
        </p:nvSpPr>
        <p:spPr>
          <a:xfrm>
            <a:off x="8275320" y="5148000"/>
            <a:ext cx="3200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Environment inconsistencies break installs across machines and servers.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5"/>
          <p:cNvSpPr/>
          <p:nvPr/>
        </p:nvSpPr>
        <p:spPr>
          <a:xfrm>
            <a:off x="0" y="6675120"/>
            <a:ext cx="12188520" cy="1825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6"/>
          <p:cNvSpPr/>
          <p:nvPr/>
        </p:nvSpPr>
        <p:spPr>
          <a:xfrm>
            <a:off x="365760" y="64465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Medi-Connect  •  Doctor-Patient Portal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7"/>
          <p:cNvSpPr/>
          <p:nvPr/>
        </p:nvSpPr>
        <p:spPr>
          <a:xfrm>
            <a:off x="11247120" y="64465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3 / 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48640" y="3200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03  /  GOALS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548640" y="5943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Objectives of the Project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48640" y="1280160"/>
            <a:ext cx="10972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548640" y="1645920"/>
            <a:ext cx="639720" cy="639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548640" y="16459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1371600" y="160020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Digitize Clinic Operations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1371600" y="2057400"/>
            <a:ext cx="4754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Replace manual workflows with a unified, web-based portal.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6172200" y="1645920"/>
            <a:ext cx="639720" cy="639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6172200" y="16459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6995160" y="160020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Enforce Role-Based Access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6995160" y="2057400"/>
            <a:ext cx="4754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Provide isolated, secure dashboards for Admin, Doctor and Patient.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2"/>
          <p:cNvSpPr/>
          <p:nvPr/>
        </p:nvSpPr>
        <p:spPr>
          <a:xfrm>
            <a:off x="548640" y="3200400"/>
            <a:ext cx="639720" cy="639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548640" y="3200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1371600" y="315468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Automate Appointment Booking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1371600" y="3611880"/>
            <a:ext cx="4754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Match patients to doctors by specialization in real time.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6172200" y="3200400"/>
            <a:ext cx="639720" cy="639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6172200" y="3200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6995160" y="315468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Centralize Patient Data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6995160" y="3611880"/>
            <a:ext cx="4754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Maintain a single, consistent record of medical history.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0"/>
          <p:cNvSpPr/>
          <p:nvPr/>
        </p:nvSpPr>
        <p:spPr>
          <a:xfrm>
            <a:off x="548640" y="4754880"/>
            <a:ext cx="639720" cy="639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1"/>
          <p:cNvSpPr/>
          <p:nvPr/>
        </p:nvSpPr>
        <p:spPr>
          <a:xfrm>
            <a:off x="548640" y="47548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1371600" y="470916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Ensure Portable Deployment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3"/>
          <p:cNvSpPr/>
          <p:nvPr/>
        </p:nvSpPr>
        <p:spPr>
          <a:xfrm>
            <a:off x="1371600" y="5166360"/>
            <a:ext cx="4754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Containerize the stack with Docker for reliable releases.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4"/>
          <p:cNvSpPr/>
          <p:nvPr/>
        </p:nvSpPr>
        <p:spPr>
          <a:xfrm>
            <a:off x="6172200" y="4754880"/>
            <a:ext cx="639720" cy="639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5"/>
          <p:cNvSpPr/>
          <p:nvPr/>
        </p:nvSpPr>
        <p:spPr>
          <a:xfrm>
            <a:off x="6172200" y="47548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6"/>
          <p:cNvSpPr/>
          <p:nvPr/>
        </p:nvSpPr>
        <p:spPr>
          <a:xfrm>
            <a:off x="6995160" y="470916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Deliver a Scalable Foundation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7"/>
          <p:cNvSpPr/>
          <p:nvPr/>
        </p:nvSpPr>
        <p:spPr>
          <a:xfrm>
            <a:off x="6995160" y="5166360"/>
            <a:ext cx="4754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Build on MVC patterns ready for production-grade growth.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8"/>
          <p:cNvSpPr/>
          <p:nvPr/>
        </p:nvSpPr>
        <p:spPr>
          <a:xfrm>
            <a:off x="0" y="6675120"/>
            <a:ext cx="12188520" cy="1825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9"/>
          <p:cNvSpPr/>
          <p:nvPr/>
        </p:nvSpPr>
        <p:spPr>
          <a:xfrm>
            <a:off x="365760" y="64465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Medi-Connect  •  Doctor-Patient Portal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0"/>
          <p:cNvSpPr/>
          <p:nvPr/>
        </p:nvSpPr>
        <p:spPr>
          <a:xfrm>
            <a:off x="11247120" y="64465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4 / 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48640" y="3200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04  /  THE SOLUTION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548640" y="5943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Proposed System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548640" y="1280160"/>
            <a:ext cx="10972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548640" y="155448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Medi-Connect offers a containerized Java web application built on the MVC pattern, delivering a secure, role-aware portal that unifies clinic operations under a single interface.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548640" y="2468880"/>
            <a:ext cx="6491880" cy="384012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 w="12700">
            <a:solidFill>
              <a:srgbClr val="e8f4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777240" y="260604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Core Capabilities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868680" y="3063240"/>
            <a:ext cx="61261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■"/>
            </a:pPr>
            <a:r>
              <a:rPr lang="en-US" sz="13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Three dedicated dashboards — Admin, Doctor, Patient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■"/>
            </a:pPr>
            <a:r>
              <a:rPr lang="en-US" sz="13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Automated doctor matching based on medical specialization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■"/>
            </a:pPr>
            <a:r>
              <a:rPr lang="en-US" sz="13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Real-time appointment scheduling with live status tracking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■"/>
            </a:pPr>
            <a:r>
              <a:rPr lang="en-US" sz="13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Secure session management protecting sensitive health data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■"/>
            </a:pPr>
            <a:r>
              <a:rPr lang="en-US" sz="13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Centralized MySQL store for patients, doctors and bookings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332"/>
              </a:buClr>
              <a:buFont typeface="OpenSymbol"/>
              <a:buChar char="■"/>
            </a:pPr>
            <a:r>
              <a:rPr lang="en-US" sz="13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Docker-based deployment with automated DB initialization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8"/>
          <p:cNvSpPr/>
          <p:nvPr/>
        </p:nvSpPr>
        <p:spPr>
          <a:xfrm>
            <a:off x="7269480" y="2468880"/>
            <a:ext cx="2148480" cy="178272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7269480" y="278892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7269480" y="338328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RBAC + Sessions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1"/>
          <p:cNvSpPr/>
          <p:nvPr/>
        </p:nvSpPr>
        <p:spPr>
          <a:xfrm>
            <a:off x="9555480" y="2468880"/>
            <a:ext cx="2148480" cy="178272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9555480" y="278892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Scalable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9555480" y="338328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MVC Architecture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4"/>
          <p:cNvSpPr/>
          <p:nvPr/>
        </p:nvSpPr>
        <p:spPr>
          <a:xfrm>
            <a:off x="7269480" y="4389120"/>
            <a:ext cx="2148480" cy="178272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7269480" y="470916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Portable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6"/>
          <p:cNvSpPr/>
          <p:nvPr/>
        </p:nvSpPr>
        <p:spPr>
          <a:xfrm>
            <a:off x="7269480" y="530352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Dockerized Stack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7"/>
          <p:cNvSpPr/>
          <p:nvPr/>
        </p:nvSpPr>
        <p:spPr>
          <a:xfrm>
            <a:off x="9555480" y="4389120"/>
            <a:ext cx="2148480" cy="178272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9555480" y="470916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Smart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9"/>
          <p:cNvSpPr/>
          <p:nvPr/>
        </p:nvSpPr>
        <p:spPr>
          <a:xfrm>
            <a:off x="9555480" y="530352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Specialization Match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0"/>
          <p:cNvSpPr/>
          <p:nvPr/>
        </p:nvSpPr>
        <p:spPr>
          <a:xfrm>
            <a:off x="0" y="6675120"/>
            <a:ext cx="12188520" cy="1825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1"/>
          <p:cNvSpPr/>
          <p:nvPr/>
        </p:nvSpPr>
        <p:spPr>
          <a:xfrm>
            <a:off x="365760" y="64465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Medi-Connect  •  Doctor-Patient Portal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2"/>
          <p:cNvSpPr/>
          <p:nvPr/>
        </p:nvSpPr>
        <p:spPr>
          <a:xfrm>
            <a:off x="11247120" y="64465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5 / 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48640" y="3200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05  /  TECH STACK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548640" y="5943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Technologies Used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548640" y="1280160"/>
            <a:ext cx="10972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548640" y="1691640"/>
            <a:ext cx="3565800" cy="20113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548640" y="1691640"/>
            <a:ext cx="3565800" cy="319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77240" y="21945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777240" y="274320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JSP  •  HTML5  •  CSS3  •  JavaScript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4297680" y="1691640"/>
            <a:ext cx="3565800" cy="20113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4297680" y="1691640"/>
            <a:ext cx="3565800" cy="31968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4526280" y="21945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4526280" y="274320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Core Java  •  Servlets  •  JDBC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>
            <a:off x="8046720" y="1691640"/>
            <a:ext cx="3565800" cy="20113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3"/>
          <p:cNvSpPr/>
          <p:nvPr/>
        </p:nvSpPr>
        <p:spPr>
          <a:xfrm>
            <a:off x="8046720" y="1691640"/>
            <a:ext cx="3565800" cy="319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8275320" y="21945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Database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8275320" y="274320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MySQL Relational Database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6"/>
          <p:cNvSpPr/>
          <p:nvPr/>
        </p:nvSpPr>
        <p:spPr>
          <a:xfrm>
            <a:off x="548640" y="3931920"/>
            <a:ext cx="3565800" cy="20113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548640" y="3931920"/>
            <a:ext cx="3565800" cy="31968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777240" y="44348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Server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777240" y="498348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Apache Tomcat Container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0"/>
          <p:cNvSpPr/>
          <p:nvPr/>
        </p:nvSpPr>
        <p:spPr>
          <a:xfrm>
            <a:off x="4297680" y="3931920"/>
            <a:ext cx="3565800" cy="20113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1"/>
          <p:cNvSpPr/>
          <p:nvPr/>
        </p:nvSpPr>
        <p:spPr>
          <a:xfrm>
            <a:off x="4297680" y="3931920"/>
            <a:ext cx="3565800" cy="319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2"/>
          <p:cNvSpPr/>
          <p:nvPr/>
        </p:nvSpPr>
        <p:spPr>
          <a:xfrm>
            <a:off x="4526280" y="44348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DevOps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3"/>
          <p:cNvSpPr/>
          <p:nvPr/>
        </p:nvSpPr>
        <p:spPr>
          <a:xfrm>
            <a:off x="4526280" y="498348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Docker  •  docker-compose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4"/>
          <p:cNvSpPr/>
          <p:nvPr/>
        </p:nvSpPr>
        <p:spPr>
          <a:xfrm>
            <a:off x="8046720" y="3931920"/>
            <a:ext cx="3565800" cy="20113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5"/>
          <p:cNvSpPr/>
          <p:nvPr/>
        </p:nvSpPr>
        <p:spPr>
          <a:xfrm>
            <a:off x="8046720" y="3931920"/>
            <a:ext cx="3565800" cy="3196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6"/>
          <p:cNvSpPr/>
          <p:nvPr/>
        </p:nvSpPr>
        <p:spPr>
          <a:xfrm>
            <a:off x="8275320" y="44348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Pattern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7"/>
          <p:cNvSpPr/>
          <p:nvPr/>
        </p:nvSpPr>
        <p:spPr>
          <a:xfrm>
            <a:off x="8275320" y="498348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Model–View–Controller (MVC)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8"/>
          <p:cNvSpPr/>
          <p:nvPr/>
        </p:nvSpPr>
        <p:spPr>
          <a:xfrm>
            <a:off x="0" y="6675120"/>
            <a:ext cx="12188520" cy="1825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9"/>
          <p:cNvSpPr/>
          <p:nvPr/>
        </p:nvSpPr>
        <p:spPr>
          <a:xfrm>
            <a:off x="365760" y="64465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Medi-Connect  •  Doctor-Patient Portal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0"/>
          <p:cNvSpPr/>
          <p:nvPr/>
        </p:nvSpPr>
        <p:spPr>
          <a:xfrm>
            <a:off x="11247120" y="64465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6 / 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548640" y="3200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06  /  HOW IT WORKS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548640" y="5943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System Architecture &amp; Workflow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548640" y="1280160"/>
            <a:ext cx="10972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4"/>
          <p:cNvSpPr/>
          <p:nvPr/>
        </p:nvSpPr>
        <p:spPr>
          <a:xfrm>
            <a:off x="548640" y="1691640"/>
            <a:ext cx="6857640" cy="82260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"/>
          <p:cNvSpPr/>
          <p:nvPr/>
        </p:nvSpPr>
        <p:spPr>
          <a:xfrm>
            <a:off x="777240" y="17830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Presentation Layer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777240" y="21031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0f0ee"/>
                </a:solidFill>
                <a:effectLst/>
                <a:uFillTx/>
                <a:latin typeface="Calibri"/>
                <a:ea typeface="Calibri"/>
              </a:rPr>
              <a:t>JSP Pages  •  Browser UI  •  CSS / JS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3657600" y="2532960"/>
            <a:ext cx="639720" cy="118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548640" y="2651760"/>
            <a:ext cx="6857640" cy="822600"/>
          </a:xfrm>
          <a:prstGeom prst="roundRect">
            <a:avLst>
              <a:gd name="adj" fmla="val 8889"/>
            </a:avLst>
          </a:prstGeom>
          <a:solidFill>
            <a:srgbClr val="0b2a4a"/>
          </a:solidFill>
          <a:ln w="1270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777240" y="2743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Controller Layer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777240" y="306324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0f0ee"/>
                </a:solidFill>
                <a:effectLst/>
                <a:uFillTx/>
                <a:latin typeface="Calibri"/>
                <a:ea typeface="Calibri"/>
              </a:rPr>
              <a:t>Java Servlets  •  Request Routing  •  Session Mgmt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3657600" y="3493080"/>
            <a:ext cx="639720" cy="118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2"/>
          <p:cNvSpPr/>
          <p:nvPr/>
        </p:nvSpPr>
        <p:spPr>
          <a:xfrm>
            <a:off x="548640" y="3611880"/>
            <a:ext cx="6857640" cy="82260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777240" y="37033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 / Business Layer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777240" y="40233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0f0ee"/>
                </a:solidFill>
                <a:effectLst/>
                <a:uFillTx/>
                <a:latin typeface="Calibri"/>
                <a:ea typeface="Calibri"/>
              </a:rPr>
              <a:t>DAO Classes  •  Business Logic  •  Validation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5"/>
          <p:cNvSpPr/>
          <p:nvPr/>
        </p:nvSpPr>
        <p:spPr>
          <a:xfrm>
            <a:off x="3657600" y="4453200"/>
            <a:ext cx="639720" cy="118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6"/>
          <p:cNvSpPr/>
          <p:nvPr/>
        </p:nvSpPr>
        <p:spPr>
          <a:xfrm>
            <a:off x="548640" y="4572000"/>
            <a:ext cx="6857640" cy="822600"/>
          </a:xfrm>
          <a:prstGeom prst="roundRect">
            <a:avLst>
              <a:gd name="adj" fmla="val 8889"/>
            </a:avLst>
          </a:prstGeom>
          <a:solidFill>
            <a:srgbClr val="1f6f8b"/>
          </a:solidFill>
          <a:ln w="12700">
            <a:solidFill>
              <a:srgbClr val="1f6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7"/>
          <p:cNvSpPr/>
          <p:nvPr/>
        </p:nvSpPr>
        <p:spPr>
          <a:xfrm>
            <a:off x="777240" y="46634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Layer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777240" y="498348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e0f0ee"/>
                </a:solidFill>
                <a:effectLst/>
                <a:uFillTx/>
                <a:latin typeface="Calibri"/>
                <a:ea typeface="Calibri"/>
              </a:rPr>
              <a:t>MySQL Database  •  JDBC Connectivity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9"/>
          <p:cNvSpPr/>
          <p:nvPr/>
        </p:nvSpPr>
        <p:spPr>
          <a:xfrm>
            <a:off x="7680960" y="1691640"/>
            <a:ext cx="3931560" cy="4617360"/>
          </a:xfrm>
          <a:prstGeom prst="roundRect">
            <a:avLst>
              <a:gd name="adj" fmla="val 2791"/>
            </a:avLst>
          </a:prstGeom>
          <a:solidFill>
            <a:srgbClr val="f4f8fa"/>
          </a:solidFill>
          <a:ln w="12700">
            <a:solidFill>
              <a:srgbClr val="e8f4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0"/>
          <p:cNvSpPr/>
          <p:nvPr/>
        </p:nvSpPr>
        <p:spPr>
          <a:xfrm>
            <a:off x="7863840" y="1828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Request Lifecycle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1"/>
          <p:cNvSpPr/>
          <p:nvPr/>
        </p:nvSpPr>
        <p:spPr>
          <a:xfrm>
            <a:off x="7863840" y="237744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7863840" y="2377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8366760" y="239580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Patient logs in via secure session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4"/>
          <p:cNvSpPr/>
          <p:nvPr/>
        </p:nvSpPr>
        <p:spPr>
          <a:xfrm>
            <a:off x="7863840" y="309060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5"/>
          <p:cNvSpPr/>
          <p:nvPr/>
        </p:nvSpPr>
        <p:spPr>
          <a:xfrm>
            <a:off x="7863840" y="3090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6"/>
          <p:cNvSpPr/>
          <p:nvPr/>
        </p:nvSpPr>
        <p:spPr>
          <a:xfrm>
            <a:off x="8366760" y="310896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Browses doctors by specialization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7"/>
          <p:cNvSpPr/>
          <p:nvPr/>
        </p:nvSpPr>
        <p:spPr>
          <a:xfrm>
            <a:off x="7863840" y="380376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8"/>
          <p:cNvSpPr/>
          <p:nvPr/>
        </p:nvSpPr>
        <p:spPr>
          <a:xfrm>
            <a:off x="7863840" y="3803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9"/>
          <p:cNvSpPr/>
          <p:nvPr/>
        </p:nvSpPr>
        <p:spPr>
          <a:xfrm>
            <a:off x="8366760" y="38221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Servlet routes booking request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0"/>
          <p:cNvSpPr/>
          <p:nvPr/>
        </p:nvSpPr>
        <p:spPr>
          <a:xfrm>
            <a:off x="7863840" y="451728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1"/>
          <p:cNvSpPr/>
          <p:nvPr/>
        </p:nvSpPr>
        <p:spPr>
          <a:xfrm>
            <a:off x="7863840" y="451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2"/>
          <p:cNvSpPr/>
          <p:nvPr/>
        </p:nvSpPr>
        <p:spPr>
          <a:xfrm>
            <a:off x="8366760" y="453528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DAO validates &amp; persists to MySQL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3"/>
          <p:cNvSpPr/>
          <p:nvPr/>
        </p:nvSpPr>
        <p:spPr>
          <a:xfrm>
            <a:off x="7863840" y="523044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4"/>
          <p:cNvSpPr/>
          <p:nvPr/>
        </p:nvSpPr>
        <p:spPr>
          <a:xfrm>
            <a:off x="7863840" y="5230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5"/>
          <p:cNvSpPr/>
          <p:nvPr/>
        </p:nvSpPr>
        <p:spPr>
          <a:xfrm>
            <a:off x="8366760" y="524880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Dashboard reflects live status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6"/>
          <p:cNvSpPr/>
          <p:nvPr/>
        </p:nvSpPr>
        <p:spPr>
          <a:xfrm>
            <a:off x="0" y="6675120"/>
            <a:ext cx="12188520" cy="1825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7"/>
          <p:cNvSpPr/>
          <p:nvPr/>
        </p:nvSpPr>
        <p:spPr>
          <a:xfrm>
            <a:off x="365760" y="64465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Medi-Connect  •  Doctor-Patient Portal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8"/>
          <p:cNvSpPr/>
          <p:nvPr/>
        </p:nvSpPr>
        <p:spPr>
          <a:xfrm>
            <a:off x="11247120" y="64465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7 / 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548640" y="3200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07  /  CAPABILITIES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548640" y="5943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Key Features &amp; Modules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548640" y="1280160"/>
            <a:ext cx="10972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548640" y="1645920"/>
            <a:ext cx="356580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548640" y="1645920"/>
            <a:ext cx="3565800" cy="50256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731520" y="17190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Admin Module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777240" y="228600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Manage doctors (CRUD)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Oversee specializations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Monitor platform metrics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4297680" y="1645920"/>
            <a:ext cx="356580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9"/>
          <p:cNvSpPr/>
          <p:nvPr/>
        </p:nvSpPr>
        <p:spPr>
          <a:xfrm>
            <a:off x="4297680" y="1645920"/>
            <a:ext cx="3565800" cy="50256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4480560" y="17190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Doctor Module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4526280" y="228600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Personalized dashboard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View patient appointments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Update appointment status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2"/>
          <p:cNvSpPr/>
          <p:nvPr/>
        </p:nvSpPr>
        <p:spPr>
          <a:xfrm>
            <a:off x="8046720" y="1645920"/>
            <a:ext cx="356580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3"/>
          <p:cNvSpPr/>
          <p:nvPr/>
        </p:nvSpPr>
        <p:spPr>
          <a:xfrm>
            <a:off x="8046720" y="1645920"/>
            <a:ext cx="3565800" cy="50256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8229600" y="17190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Patient Module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8275320" y="228600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Search doctors by specialty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Book real-time appointments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Track booking lifecycle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6"/>
          <p:cNvSpPr/>
          <p:nvPr/>
        </p:nvSpPr>
        <p:spPr>
          <a:xfrm>
            <a:off x="548640" y="3977640"/>
            <a:ext cx="356580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7"/>
          <p:cNvSpPr/>
          <p:nvPr/>
        </p:nvSpPr>
        <p:spPr>
          <a:xfrm>
            <a:off x="548640" y="3977640"/>
            <a:ext cx="3565800" cy="50256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8"/>
          <p:cNvSpPr/>
          <p:nvPr/>
        </p:nvSpPr>
        <p:spPr>
          <a:xfrm>
            <a:off x="731520" y="40507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 &amp; Sessions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9"/>
          <p:cNvSpPr/>
          <p:nvPr/>
        </p:nvSpPr>
        <p:spPr>
          <a:xfrm>
            <a:off x="777240" y="461772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Role-Based Access Control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Encrypted credentials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Server-side session checks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0"/>
          <p:cNvSpPr/>
          <p:nvPr/>
        </p:nvSpPr>
        <p:spPr>
          <a:xfrm>
            <a:off x="4297680" y="3977640"/>
            <a:ext cx="356580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1"/>
          <p:cNvSpPr/>
          <p:nvPr/>
        </p:nvSpPr>
        <p:spPr>
          <a:xfrm>
            <a:off x="4297680" y="3977640"/>
            <a:ext cx="3565800" cy="50256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2"/>
          <p:cNvSpPr/>
          <p:nvPr/>
        </p:nvSpPr>
        <p:spPr>
          <a:xfrm>
            <a:off x="4480560" y="40507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Specialist Matcher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3"/>
          <p:cNvSpPr/>
          <p:nvPr/>
        </p:nvSpPr>
        <p:spPr>
          <a:xfrm>
            <a:off x="4526280" y="461772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Auto-mapping by category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Filtered doctor listings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Reduced search friction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4"/>
          <p:cNvSpPr/>
          <p:nvPr/>
        </p:nvSpPr>
        <p:spPr>
          <a:xfrm>
            <a:off x="8046720" y="3977640"/>
            <a:ext cx="356580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5"/>
          <p:cNvSpPr/>
          <p:nvPr/>
        </p:nvSpPr>
        <p:spPr>
          <a:xfrm>
            <a:off x="8046720" y="3977640"/>
            <a:ext cx="3565800" cy="50256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6"/>
          <p:cNvSpPr/>
          <p:nvPr/>
        </p:nvSpPr>
        <p:spPr>
          <a:xfrm>
            <a:off x="8229600" y="40507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Deployment Module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7"/>
          <p:cNvSpPr/>
          <p:nvPr/>
        </p:nvSpPr>
        <p:spPr>
          <a:xfrm>
            <a:off x="8275320" y="461772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Dockerfile + Compose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Auto DB initialization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332"/>
              </a:buClr>
              <a:buFont typeface="Wingdings 3" charset="2"/>
              <a:buChar char=""/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One-command launch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8"/>
          <p:cNvSpPr/>
          <p:nvPr/>
        </p:nvSpPr>
        <p:spPr>
          <a:xfrm>
            <a:off x="0" y="6675120"/>
            <a:ext cx="12188520" cy="1825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9"/>
          <p:cNvSpPr/>
          <p:nvPr/>
        </p:nvSpPr>
        <p:spPr>
          <a:xfrm>
            <a:off x="365760" y="64465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Medi-Connect  •  Doctor-Patient Portal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0"/>
          <p:cNvSpPr/>
          <p:nvPr/>
        </p:nvSpPr>
        <p:spPr>
          <a:xfrm>
            <a:off x="11247120" y="64465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8 / 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548640" y="3200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08  /  UNDER THE HOOD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548640" y="5943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Database &amp; Implementation Overview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548640" y="1280160"/>
            <a:ext cx="10972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548640" y="1645920"/>
            <a:ext cx="342864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548640" y="1645920"/>
            <a:ext cx="3428640" cy="411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731520" y="16916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users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731520" y="2148840"/>
            <a:ext cx="3108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user_id (PK)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email, password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role (admin/doctor/patient)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4206240" y="1645920"/>
            <a:ext cx="342864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4206240" y="1645920"/>
            <a:ext cx="3428640" cy="41112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4389120" y="16916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specialist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4389120" y="2148840"/>
            <a:ext cx="3108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spec_id (PK)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specialization_name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description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2"/>
          <p:cNvSpPr/>
          <p:nvPr/>
        </p:nvSpPr>
        <p:spPr>
          <a:xfrm>
            <a:off x="548640" y="3749040"/>
            <a:ext cx="342864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548640" y="3749040"/>
            <a:ext cx="3428640" cy="411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731520" y="379476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doctor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5"/>
          <p:cNvSpPr/>
          <p:nvPr/>
        </p:nvSpPr>
        <p:spPr>
          <a:xfrm>
            <a:off x="731520" y="4251960"/>
            <a:ext cx="3108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doctor_id (PK)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user_id (FK)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spec_id (FK)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6"/>
          <p:cNvSpPr/>
          <p:nvPr/>
        </p:nvSpPr>
        <p:spPr>
          <a:xfrm>
            <a:off x="4206240" y="3749040"/>
            <a:ext cx="342864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1f6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4206240" y="3749040"/>
            <a:ext cx="3428640" cy="41112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4389120" y="379476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appointment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9"/>
          <p:cNvSpPr/>
          <p:nvPr/>
        </p:nvSpPr>
        <p:spPr>
          <a:xfrm>
            <a:off x="4389120" y="4251960"/>
            <a:ext cx="3108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appt_id (PK)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patient_id, doctor_id (FK)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onsolas"/>
                <a:ea typeface="Consolas"/>
              </a:rPr>
              <a:t>date, time, status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0"/>
          <p:cNvSpPr/>
          <p:nvPr/>
        </p:nvSpPr>
        <p:spPr>
          <a:xfrm>
            <a:off x="7955280" y="1645920"/>
            <a:ext cx="3657240" cy="4663080"/>
          </a:xfrm>
          <a:prstGeom prst="roundRect">
            <a:avLst>
              <a:gd name="adj" fmla="val 3000"/>
            </a:avLst>
          </a:prstGeom>
          <a:solidFill>
            <a:srgbClr val="0b2a4a"/>
          </a:solidFill>
          <a:ln w="12700">
            <a:solidFill>
              <a:srgbClr val="0b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1"/>
          <p:cNvSpPr/>
          <p:nvPr/>
        </p:nvSpPr>
        <p:spPr>
          <a:xfrm>
            <a:off x="8138160" y="17830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Implementation Highlights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2"/>
          <p:cNvSpPr/>
          <p:nvPr/>
        </p:nvSpPr>
        <p:spPr>
          <a:xfrm>
            <a:off x="8229600" y="2286000"/>
            <a:ext cx="329148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8ede9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JDBC connection pool via singleton DB utility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8ede9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Servlet controllers for login, booking, admin ops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8ede9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DAO layer isolates SQL from business logic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8ede9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JSP views with shared header/footer fragments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8ede9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Validation on both client and server side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8ede9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docker-compose orchestrates app + MySQL services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8ede9"/>
              </a:buClr>
              <a:buFont typeface="Wingdings" charset="2"/>
              <a:buChar char=""/>
            </a:pPr>
            <a:r>
              <a:rPr lang="en-US" sz="1100" b="0" u="none" strike="noStrike">
                <a:solidFill>
                  <a:srgbClr val="c8ede9"/>
                </a:solidFill>
                <a:effectLst/>
                <a:uFillTx/>
                <a:latin typeface="Calibri"/>
                <a:ea typeface="Calibri"/>
              </a:rPr>
              <a:t>Schema auto-loaded on first container boot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3"/>
          <p:cNvSpPr/>
          <p:nvPr/>
        </p:nvSpPr>
        <p:spPr>
          <a:xfrm>
            <a:off x="0" y="6675120"/>
            <a:ext cx="12188520" cy="1825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4"/>
          <p:cNvSpPr/>
          <p:nvPr/>
        </p:nvSpPr>
        <p:spPr>
          <a:xfrm>
            <a:off x="365760" y="64465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Medi-Connect  •  Doctor-Patient Portal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5"/>
          <p:cNvSpPr/>
          <p:nvPr/>
        </p:nvSpPr>
        <p:spPr>
          <a:xfrm>
            <a:off x="11247120" y="64465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9 / 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548640" y="32004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09  /  WHAT WE ACHIEVED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548640" y="5943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Results &amp; Outcomes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548640" y="1280160"/>
            <a:ext cx="10972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548640" y="1600200"/>
            <a:ext cx="2697120" cy="155412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548640" y="1691640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548640" y="256032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6f0ee"/>
                </a:solidFill>
                <a:effectLst/>
                <a:uFillTx/>
                <a:latin typeface="Calibri"/>
                <a:ea typeface="Calibri"/>
              </a:rPr>
              <a:t>Role-Based Dashboards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3383280" y="1600200"/>
            <a:ext cx="2697120" cy="155412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8"/>
          <p:cNvSpPr/>
          <p:nvPr/>
        </p:nvSpPr>
        <p:spPr>
          <a:xfrm>
            <a:off x="3383280" y="1691640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3383280" y="256032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6f0ee"/>
                </a:solidFill>
                <a:effectLst/>
                <a:uFillTx/>
                <a:latin typeface="Calibri"/>
                <a:ea typeface="Calibri"/>
              </a:rPr>
              <a:t>Core Database Modules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6217920" y="1600200"/>
            <a:ext cx="2697120" cy="155412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6217920" y="1691640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1-Cmd</a:t>
            </a:r>
            <a:endParaRPr lang="en-IN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2"/>
          <p:cNvSpPr/>
          <p:nvPr/>
        </p:nvSpPr>
        <p:spPr>
          <a:xfrm>
            <a:off x="6217920" y="256032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6f0ee"/>
                </a:solidFill>
                <a:effectLst/>
                <a:uFillTx/>
                <a:latin typeface="Calibri"/>
                <a:ea typeface="Calibri"/>
              </a:rPr>
              <a:t>Docker Deployment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3"/>
          <p:cNvSpPr/>
          <p:nvPr/>
        </p:nvSpPr>
        <p:spPr>
          <a:xfrm>
            <a:off x="9052560" y="1600200"/>
            <a:ext cx="2697120" cy="155412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9052560" y="1691640"/>
            <a:ext cx="2697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100%</a:t>
            </a:r>
            <a:endParaRPr lang="en-IN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9052560" y="256032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d6f0ee"/>
                </a:solidFill>
                <a:effectLst/>
                <a:uFillTx/>
                <a:latin typeface="Calibri"/>
                <a:ea typeface="Calibri"/>
              </a:rPr>
              <a:t>MVC Layer Separation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548640" y="34290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2a4a"/>
                </a:solidFill>
                <a:effectLst/>
                <a:uFillTx/>
                <a:latin typeface="Calibri"/>
                <a:ea typeface="Calibri"/>
              </a:rPr>
              <a:t>Validated Outcomes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548640" y="3794760"/>
            <a:ext cx="1097280" cy="360"/>
          </a:xfrm>
          <a:prstGeom prst="line">
            <a:avLst/>
          </a:prstGeom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8"/>
          <p:cNvSpPr/>
          <p:nvPr/>
        </p:nvSpPr>
        <p:spPr>
          <a:xfrm>
            <a:off x="548640" y="4023360"/>
            <a:ext cx="91080" cy="1005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9"/>
          <p:cNvSpPr/>
          <p:nvPr/>
        </p:nvSpPr>
        <p:spPr>
          <a:xfrm>
            <a:off x="777240" y="39776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Functional Testing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0"/>
          <p:cNvSpPr/>
          <p:nvPr/>
        </p:nvSpPr>
        <p:spPr>
          <a:xfrm>
            <a:off x="777240" y="4361760"/>
            <a:ext cx="5303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All booking, login, and admin flows passed unit and integration tests.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1"/>
          <p:cNvSpPr/>
          <p:nvPr/>
        </p:nvSpPr>
        <p:spPr>
          <a:xfrm>
            <a:off x="6172200" y="4023360"/>
            <a:ext cx="91080" cy="1005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6400800" y="39776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Security Validation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3"/>
          <p:cNvSpPr/>
          <p:nvPr/>
        </p:nvSpPr>
        <p:spPr>
          <a:xfrm>
            <a:off x="6400800" y="4361760"/>
            <a:ext cx="5303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Session hijacking and unauthorized access attempts were blocked by RBAC.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4"/>
          <p:cNvSpPr/>
          <p:nvPr/>
        </p:nvSpPr>
        <p:spPr>
          <a:xfrm>
            <a:off x="548640" y="5257800"/>
            <a:ext cx="91080" cy="1005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5"/>
          <p:cNvSpPr/>
          <p:nvPr/>
        </p:nvSpPr>
        <p:spPr>
          <a:xfrm>
            <a:off x="777240" y="52120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Deployment Reliability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6"/>
          <p:cNvSpPr/>
          <p:nvPr/>
        </p:nvSpPr>
        <p:spPr>
          <a:xfrm>
            <a:off x="777240" y="5596200"/>
            <a:ext cx="5303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Docker build verified across multiple environments without configuration drift.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7"/>
          <p:cNvSpPr/>
          <p:nvPr/>
        </p:nvSpPr>
        <p:spPr>
          <a:xfrm>
            <a:off x="6172200" y="5257800"/>
            <a:ext cx="91080" cy="1005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8"/>
          <p:cNvSpPr/>
          <p:nvPr/>
        </p:nvSpPr>
        <p:spPr>
          <a:xfrm>
            <a:off x="6400800" y="52120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Usability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9"/>
          <p:cNvSpPr/>
          <p:nvPr/>
        </p:nvSpPr>
        <p:spPr>
          <a:xfrm>
            <a:off x="6400800" y="5596200"/>
            <a:ext cx="5303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332"/>
                </a:solidFill>
                <a:effectLst/>
                <a:uFillTx/>
                <a:latin typeface="Calibri"/>
                <a:ea typeface="Calibri"/>
              </a:rPr>
              <a:t>Clean, responsive UI confirmed positive feedback on dashboards and forms.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0"/>
          <p:cNvSpPr/>
          <p:nvPr/>
        </p:nvSpPr>
        <p:spPr>
          <a:xfrm>
            <a:off x="0" y="6675120"/>
            <a:ext cx="12188520" cy="1825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1"/>
          <p:cNvSpPr/>
          <p:nvPr/>
        </p:nvSpPr>
        <p:spPr>
          <a:xfrm>
            <a:off x="365760" y="64465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Medi-Connect  •  Doctor-Patient Portal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2"/>
          <p:cNvSpPr/>
          <p:nvPr/>
        </p:nvSpPr>
        <p:spPr>
          <a:xfrm>
            <a:off x="11247120" y="64465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6b7b"/>
                </a:solidFill>
                <a:effectLst/>
                <a:uFillTx/>
                <a:latin typeface="Calibri"/>
                <a:ea typeface="Calibri"/>
              </a:rPr>
              <a:t>10 / 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"/>
          <p:cNvSpPr/>
          <p:nvPr/>
        </p:nvSpPr>
        <p:spPr>
          <a:xfrm>
            <a:off x="548640" y="45720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400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10  /  CLOSING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548640" y="77724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 &amp; Future Scope</a:t>
            </a:r>
            <a:endParaRPr lang="en-IN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3"/>
          <p:cNvSpPr/>
          <p:nvPr/>
        </p:nvSpPr>
        <p:spPr>
          <a:xfrm>
            <a:off x="548640" y="1463040"/>
            <a:ext cx="10972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"/>
          <p:cNvSpPr/>
          <p:nvPr/>
        </p:nvSpPr>
        <p:spPr>
          <a:xfrm>
            <a:off x="548640" y="1783080"/>
            <a:ext cx="5486040" cy="4525920"/>
          </a:xfrm>
          <a:prstGeom prst="roundRect">
            <a:avLst>
              <a:gd name="adj" fmla="val 2424"/>
            </a:avLst>
          </a:prstGeom>
          <a:solidFill>
            <a:srgbClr val="10355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777240" y="19202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6"/>
          <p:cNvSpPr/>
          <p:nvPr/>
        </p:nvSpPr>
        <p:spPr>
          <a:xfrm>
            <a:off x="777240" y="2377440"/>
            <a:ext cx="50288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lang="en-US" sz="1300" b="0" u="none" strike="noStrike">
                <a:solidFill>
                  <a:srgbClr val="dce7ee"/>
                </a:solidFill>
                <a:effectLst/>
                <a:uFillTx/>
                <a:latin typeface="Calibri"/>
                <a:ea typeface="Calibri"/>
              </a:rPr>
              <a:t>Medi-Connect successfully delivers a secure, role-aware web portal that replaces error-prone manual workflows with an automated, containerized platform. The MVC foundation, combined with Docker-based deployment, results in a maintainable, production-ready system that meaningfully improves how patients, doctors and administrators interact within a modern clinic.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7"/>
          <p:cNvSpPr/>
          <p:nvPr/>
        </p:nvSpPr>
        <p:spPr>
          <a:xfrm>
            <a:off x="6263640" y="1783080"/>
            <a:ext cx="5394600" cy="4525920"/>
          </a:xfrm>
          <a:prstGeom prst="roundRect">
            <a:avLst>
              <a:gd name="adj" fmla="val 2424"/>
            </a:avLst>
          </a:prstGeom>
          <a:solidFill>
            <a:srgbClr val="10355a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8"/>
          <p:cNvSpPr/>
          <p:nvPr/>
        </p:nvSpPr>
        <p:spPr>
          <a:xfrm>
            <a:off x="6492240" y="19202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Future Scope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9"/>
          <p:cNvSpPr/>
          <p:nvPr/>
        </p:nvSpPr>
        <p:spPr>
          <a:xfrm>
            <a:off x="6537960" y="2377440"/>
            <a:ext cx="49374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dce7ee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dce7ee"/>
                </a:solidFill>
                <a:effectLst/>
                <a:uFillTx/>
                <a:latin typeface="Calibri"/>
                <a:ea typeface="Calibri"/>
              </a:rPr>
              <a:t>Integrated tele-consultation with video calling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dce7ee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dce7ee"/>
                </a:solidFill>
                <a:effectLst/>
                <a:uFillTx/>
                <a:latin typeface="Calibri"/>
                <a:ea typeface="Calibri"/>
              </a:rPr>
              <a:t>Online prescription generation and e-pharmacy linkage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dce7ee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dce7ee"/>
                </a:solidFill>
                <a:effectLst/>
                <a:uFillTx/>
                <a:latin typeface="Calibri"/>
                <a:ea typeface="Calibri"/>
              </a:rPr>
              <a:t>Patient health analytics and visit history dashboards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dce7ee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dce7ee"/>
                </a:solidFill>
                <a:effectLst/>
                <a:uFillTx/>
                <a:latin typeface="Calibri"/>
                <a:ea typeface="Calibri"/>
              </a:rPr>
              <a:t>Mobile applications for Android and iOS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dce7ee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dce7ee"/>
                </a:solidFill>
                <a:effectLst/>
                <a:uFillTx/>
                <a:latin typeface="Calibri"/>
                <a:ea typeface="Calibri"/>
              </a:rPr>
              <a:t>AI-assisted symptom checker and doctor recommendation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dce7ee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dce7ee"/>
                </a:solidFill>
                <a:effectLst/>
                <a:uFillTx/>
                <a:latin typeface="Calibri"/>
                <a:ea typeface="Calibri"/>
              </a:rPr>
              <a:t>Integration with payment gateways and insurance APIs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548640" y="635508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601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LibreOffice/25.8.5.2$Windows_X86_64 LibreOffice_project/9c8b85f387cc00a89945a79c9e6239f32e450ac2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2026-05-17T09:01:50Z</dcterms:created>
  <dc:creator>Shreyash Sandip Vairagade</dc:creator>
  <dc:description/>
  <dc:language>en-IN</dc:language>
  <cp:lastModifiedBy/>
  <dcterms:modified xsi:type="dcterms:W3CDTF">2026-05-19T20:50:47Z</dcterms:modified>
  <cp:revision>2</cp:revision>
  <dc:subject>PptxGenJS Presentation</dc:subject>
  <dc:title>Medi-Connect Doctor-Patient Portal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